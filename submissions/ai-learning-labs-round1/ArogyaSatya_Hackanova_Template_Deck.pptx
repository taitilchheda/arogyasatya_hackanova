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rial Bold" panose="020B0704020202020204" pitchFamily="34" charset="0"/>
      <p:regular r:id="rId16"/>
      <p:bold r:id="rId17"/>
    </p:embeddedFont>
    <p:embeddedFont>
      <p:font typeface="Cinzel" panose="00000800000000000000" pitchFamily="2" charset="0"/>
      <p:regular r:id="rId18"/>
      <p:bold r:id="rId19"/>
    </p:embeddedFont>
    <p:embeddedFont>
      <p:font typeface="Poppins" panose="00000500000000000000" pitchFamily="2" charset="0"/>
      <p:regular r:id="rId20"/>
    </p:embeddedFont>
    <p:embeddedFont>
      <p:font typeface="Rasputi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hyperlink" Target="mailto:tcet.hackanova@gmail.com" TargetMode="External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4.png"/><Relationship Id="rId5" Type="http://schemas.openxmlformats.org/officeDocument/2006/relationships/image" Target="../media/image19.svg"/><Relationship Id="rId10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image" Target="../media/image27.png"/><Relationship Id="rId5" Type="http://schemas.openxmlformats.org/officeDocument/2006/relationships/image" Target="../media/image16.png"/><Relationship Id="rId10" Type="http://schemas.openxmlformats.org/officeDocument/2006/relationships/image" Target="../media/image26.png"/><Relationship Id="rId4" Type="http://schemas.openxmlformats.org/officeDocument/2006/relationships/image" Target="../media/image21.sv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8.png"/><Relationship Id="rId4" Type="http://schemas.openxmlformats.org/officeDocument/2006/relationships/image" Target="../media/image17.sv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9.png"/><Relationship Id="rId4" Type="http://schemas.openxmlformats.org/officeDocument/2006/relationships/image" Target="../media/image1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sv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30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31.png"/><Relationship Id="rId4" Type="http://schemas.openxmlformats.org/officeDocument/2006/relationships/image" Target="../media/image21.sv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sv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svg"/><Relationship Id="rId11" Type="http://schemas.openxmlformats.org/officeDocument/2006/relationships/image" Target="../media/image34.png"/><Relationship Id="rId5" Type="http://schemas.openxmlformats.org/officeDocument/2006/relationships/image" Target="../media/image20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t="-21" b="-2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735113" y="4649800"/>
            <a:ext cx="7106603" cy="8192795"/>
          </a:xfrm>
          <a:custGeom>
            <a:avLst/>
            <a:gdLst/>
            <a:ahLst/>
            <a:cxnLst/>
            <a:rect l="l" t="t" r="r" b="b"/>
            <a:pathLst>
              <a:path w="7106603" h="8192795">
                <a:moveTo>
                  <a:pt x="0" y="0"/>
                </a:moveTo>
                <a:lnTo>
                  <a:pt x="7106602" y="0"/>
                </a:lnTo>
                <a:lnTo>
                  <a:pt x="7106602" y="8192796"/>
                </a:lnTo>
                <a:lnTo>
                  <a:pt x="0" y="8192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95007" y="5710638"/>
            <a:ext cx="6437747" cy="5809155"/>
          </a:xfrm>
          <a:custGeom>
            <a:avLst/>
            <a:gdLst/>
            <a:ahLst/>
            <a:cxnLst/>
            <a:rect l="l" t="t" r="r" b="b"/>
            <a:pathLst>
              <a:path w="6437747" h="5809155">
                <a:moveTo>
                  <a:pt x="0" y="0"/>
                </a:moveTo>
                <a:lnTo>
                  <a:pt x="6437747" y="0"/>
                </a:lnTo>
                <a:lnTo>
                  <a:pt x="6437747" y="5809154"/>
                </a:lnTo>
                <a:lnTo>
                  <a:pt x="0" y="58091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6551" y="-66551"/>
            <a:ext cx="18421093" cy="1241022"/>
          </a:xfrm>
          <a:custGeom>
            <a:avLst/>
            <a:gdLst/>
            <a:ahLst/>
            <a:cxnLst/>
            <a:rect l="l" t="t" r="r" b="b"/>
            <a:pathLst>
              <a:path w="18421093" h="1241022">
                <a:moveTo>
                  <a:pt x="0" y="0"/>
                </a:moveTo>
                <a:lnTo>
                  <a:pt x="18421093" y="0"/>
                </a:lnTo>
                <a:lnTo>
                  <a:pt x="18421093" y="1241022"/>
                </a:lnTo>
                <a:lnTo>
                  <a:pt x="0" y="1241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43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754986" y="1292838"/>
            <a:ext cx="2276475" cy="1095375"/>
          </a:xfrm>
          <a:custGeom>
            <a:avLst/>
            <a:gdLst/>
            <a:ahLst/>
            <a:cxnLst/>
            <a:rect l="l" t="t" r="r" b="b"/>
            <a:pathLst>
              <a:path w="2276475" h="1095375">
                <a:moveTo>
                  <a:pt x="0" y="0"/>
                </a:moveTo>
                <a:lnTo>
                  <a:pt x="2276475" y="0"/>
                </a:lnTo>
                <a:lnTo>
                  <a:pt x="22764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43999"/>
            </a:blip>
            <a:stretch>
              <a:fillRect t="-42866" b="-64959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6384427" y="9170708"/>
            <a:ext cx="5518852" cy="36509"/>
            <a:chOff x="0" y="0"/>
            <a:chExt cx="5518848" cy="3651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518906" cy="36449"/>
            </a:xfrm>
            <a:custGeom>
              <a:avLst/>
              <a:gdLst/>
              <a:ahLst/>
              <a:cxnLst/>
              <a:rect l="l" t="t" r="r" b="b"/>
              <a:pathLst>
                <a:path w="5518906" h="36449">
                  <a:moveTo>
                    <a:pt x="0" y="0"/>
                  </a:moveTo>
                  <a:lnTo>
                    <a:pt x="0" y="36449"/>
                  </a:lnTo>
                  <a:lnTo>
                    <a:pt x="3052315" y="36449"/>
                  </a:lnTo>
                  <a:lnTo>
                    <a:pt x="3052315" y="0"/>
                  </a:lnTo>
                  <a:close/>
                  <a:moveTo>
                    <a:pt x="3318252" y="0"/>
                  </a:moveTo>
                  <a:lnTo>
                    <a:pt x="3318252" y="36449"/>
                  </a:lnTo>
                  <a:lnTo>
                    <a:pt x="3419852" y="36449"/>
                  </a:lnTo>
                  <a:lnTo>
                    <a:pt x="3419852" y="0"/>
                  </a:lnTo>
                  <a:close/>
                  <a:moveTo>
                    <a:pt x="3804535" y="0"/>
                  </a:moveTo>
                  <a:lnTo>
                    <a:pt x="3804535" y="36449"/>
                  </a:lnTo>
                  <a:lnTo>
                    <a:pt x="5518906" y="36449"/>
                  </a:lnTo>
                  <a:lnTo>
                    <a:pt x="5518906" y="0"/>
                  </a:lnTo>
                  <a:close/>
                </a:path>
              </a:pathLst>
            </a:custGeom>
            <a:gradFill rotWithShape="1">
              <a:gsLst>
                <a:gs pos="0">
                  <a:srgbClr val="A5F3FC">
                    <a:alpha val="100000"/>
                  </a:srgbClr>
                </a:gs>
                <a:gs pos="50000">
                  <a:srgbClr val="3B97F6">
                    <a:alpha val="100000"/>
                  </a:srgbClr>
                </a:gs>
                <a:gs pos="100000">
                  <a:srgbClr val="1D4ED8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id="9" name="Freeform 9"/>
          <p:cNvSpPr/>
          <p:nvPr/>
        </p:nvSpPr>
        <p:spPr>
          <a:xfrm>
            <a:off x="2254196" y="1116559"/>
            <a:ext cx="1514475" cy="1409700"/>
          </a:xfrm>
          <a:custGeom>
            <a:avLst/>
            <a:gdLst/>
            <a:ahLst/>
            <a:cxnLst/>
            <a:rect l="l" t="t" r="r" b="b"/>
            <a:pathLst>
              <a:path w="1514475" h="1409700">
                <a:moveTo>
                  <a:pt x="0" y="0"/>
                </a:moveTo>
                <a:lnTo>
                  <a:pt x="1514475" y="0"/>
                </a:lnTo>
                <a:lnTo>
                  <a:pt x="1514475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754986" y="1250042"/>
            <a:ext cx="2276475" cy="1095375"/>
          </a:xfrm>
          <a:custGeom>
            <a:avLst/>
            <a:gdLst/>
            <a:ahLst/>
            <a:cxnLst/>
            <a:rect l="l" t="t" r="r" b="b"/>
            <a:pathLst>
              <a:path w="2276475" h="1095375">
                <a:moveTo>
                  <a:pt x="0" y="0"/>
                </a:moveTo>
                <a:lnTo>
                  <a:pt x="2276475" y="0"/>
                </a:lnTo>
                <a:lnTo>
                  <a:pt x="2276475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42866" b="-6495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95928" y="1615440"/>
            <a:ext cx="9561576" cy="505968"/>
          </a:xfrm>
          <a:custGeom>
            <a:avLst/>
            <a:gdLst/>
            <a:ahLst/>
            <a:cxnLst/>
            <a:rect l="l" t="t" r="r" b="b"/>
            <a:pathLst>
              <a:path w="9561576" h="505968">
                <a:moveTo>
                  <a:pt x="0" y="0"/>
                </a:moveTo>
                <a:lnTo>
                  <a:pt x="9561576" y="0"/>
                </a:lnTo>
                <a:lnTo>
                  <a:pt x="9561576" y="505968"/>
                </a:lnTo>
                <a:lnTo>
                  <a:pt x="0" y="50596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195379" y="2526268"/>
            <a:ext cx="13896975" cy="3219450"/>
          </a:xfrm>
          <a:custGeom>
            <a:avLst/>
            <a:gdLst/>
            <a:ahLst/>
            <a:cxnLst/>
            <a:rect l="l" t="t" r="r" b="b"/>
            <a:pathLst>
              <a:path w="13896975" h="3219450">
                <a:moveTo>
                  <a:pt x="0" y="0"/>
                </a:moveTo>
                <a:lnTo>
                  <a:pt x="13896975" y="0"/>
                </a:lnTo>
                <a:lnTo>
                  <a:pt x="138969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8039" t="-243073" r="-17258" b="-24095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48774" y="4859793"/>
            <a:ext cx="1863987" cy="1242658"/>
          </a:xfrm>
          <a:custGeom>
            <a:avLst/>
            <a:gdLst/>
            <a:ahLst/>
            <a:cxnLst/>
            <a:rect l="l" t="t" r="r" b="b"/>
            <a:pathLst>
              <a:path w="1863987" h="1242658">
                <a:moveTo>
                  <a:pt x="0" y="0"/>
                </a:moveTo>
                <a:lnTo>
                  <a:pt x="1863987" y="0"/>
                </a:lnTo>
                <a:lnTo>
                  <a:pt x="1863987" y="1242658"/>
                </a:lnTo>
                <a:lnTo>
                  <a:pt x="0" y="12426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831995" y="5011219"/>
            <a:ext cx="4258465" cy="1091232"/>
          </a:xfrm>
          <a:custGeom>
            <a:avLst/>
            <a:gdLst/>
            <a:ahLst/>
            <a:cxnLst/>
            <a:rect l="l" t="t" r="r" b="b"/>
            <a:pathLst>
              <a:path w="4258465" h="1091232">
                <a:moveTo>
                  <a:pt x="0" y="0"/>
                </a:moveTo>
                <a:lnTo>
                  <a:pt x="4258465" y="0"/>
                </a:lnTo>
                <a:lnTo>
                  <a:pt x="4258465" y="1091232"/>
                </a:lnTo>
                <a:lnTo>
                  <a:pt x="0" y="10912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29000"/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182843" y="4570732"/>
            <a:ext cx="2076457" cy="744929"/>
          </a:xfrm>
          <a:custGeom>
            <a:avLst/>
            <a:gdLst/>
            <a:ahLst/>
            <a:cxnLst/>
            <a:rect l="l" t="t" r="r" b="b"/>
            <a:pathLst>
              <a:path w="2076457" h="744929">
                <a:moveTo>
                  <a:pt x="0" y="0"/>
                </a:moveTo>
                <a:lnTo>
                  <a:pt x="2076457" y="0"/>
                </a:lnTo>
                <a:lnTo>
                  <a:pt x="2076457" y="744929"/>
                </a:lnTo>
                <a:lnTo>
                  <a:pt x="0" y="74492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157151" y="4771036"/>
            <a:ext cx="2076457" cy="744929"/>
          </a:xfrm>
          <a:custGeom>
            <a:avLst/>
            <a:gdLst/>
            <a:ahLst/>
            <a:cxnLst/>
            <a:rect l="l" t="t" r="r" b="b"/>
            <a:pathLst>
              <a:path w="2076457" h="744929">
                <a:moveTo>
                  <a:pt x="2076457" y="0"/>
                </a:moveTo>
                <a:lnTo>
                  <a:pt x="0" y="0"/>
                </a:lnTo>
                <a:lnTo>
                  <a:pt x="0" y="744928"/>
                </a:lnTo>
                <a:lnTo>
                  <a:pt x="2076457" y="744928"/>
                </a:lnTo>
                <a:lnTo>
                  <a:pt x="2076457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222696" y="8707543"/>
            <a:ext cx="6316144" cy="550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3"/>
              </a:lnSpc>
            </a:pPr>
            <a:r>
              <a:rPr lang="en-US" sz="3066" u="sng">
                <a:gradFill>
                  <a:gsLst>
                    <a:gs pos="0">
                      <a:srgbClr val="A5F3FC">
                        <a:alpha val="100000"/>
                      </a:srgbClr>
                    </a:gs>
                    <a:gs pos="50000">
                      <a:srgbClr val="3B97F6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2700000"/>
                </a:gradFill>
                <a:latin typeface="Poppins"/>
                <a:ea typeface="Poppins"/>
                <a:cs typeface="Poppins"/>
                <a:sym typeface="Poppins"/>
                <a:hlinkClick r:id="rId17" tooltip="mailto:tcet.hackanova@gmail.com"/>
              </a:rPr>
              <a:t>technicalteamtsdw@gmail.com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019288" y="2554935"/>
            <a:ext cx="981253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spc="414">
                <a:gradFill>
                  <a:gsLst>
                    <a:gs pos="0">
                      <a:srgbClr val="A5F3FC">
                        <a:alpha val="100000"/>
                      </a:srgbClr>
                    </a:gs>
                    <a:gs pos="50000">
                      <a:srgbClr val="3B97F6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2700000"/>
                </a:gradFill>
                <a:latin typeface="Cinzel"/>
                <a:ea typeface="Cinzel"/>
                <a:cs typeface="Cinzel"/>
                <a:sym typeface="Cinzel"/>
              </a:rPr>
              <a:t>TCET’s NATIONAL LEVEL HACKATHON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94323" y="6092926"/>
            <a:ext cx="8426351" cy="63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sz="3684">
                <a:solidFill>
                  <a:srgbClr val="FFFFFF"/>
                </a:solidFill>
                <a:latin typeface="Rasputin"/>
                <a:ea typeface="Rasputin"/>
                <a:cs typeface="Rasputin"/>
                <a:sym typeface="Rasputin"/>
              </a:rPr>
              <a:t>Break The Loop, Create the future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119985" y="6815479"/>
            <a:ext cx="6175028" cy="63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sz="3684">
                <a:gradFill>
                  <a:gsLst>
                    <a:gs pos="0">
                      <a:srgbClr val="A5F3FC">
                        <a:alpha val="100000"/>
                      </a:srgbClr>
                    </a:gs>
                    <a:gs pos="50000">
                      <a:srgbClr val="3B97F6">
                        <a:alpha val="100000"/>
                      </a:srgbClr>
                    </a:gs>
                    <a:gs pos="100000">
                      <a:srgbClr val="1D4ED8">
                        <a:alpha val="100000"/>
                      </a:srgbClr>
                    </a:gs>
                  </a:gsLst>
                  <a:lin ang="2700000"/>
                </a:gradFill>
                <a:latin typeface="Rasputin"/>
                <a:ea typeface="Rasputin"/>
                <a:cs typeface="Rasputin"/>
                <a:sym typeface="Rasputin"/>
              </a:rPr>
              <a:t>Agentic AI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28635" y="7975368"/>
            <a:ext cx="8426351" cy="639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7"/>
              </a:lnSpc>
            </a:pPr>
            <a:r>
              <a:rPr lang="en-US" sz="3684">
                <a:solidFill>
                  <a:srgbClr val="FFFFFF"/>
                </a:solidFill>
                <a:latin typeface="Rasputin"/>
                <a:ea typeface="Rasputin"/>
                <a:cs typeface="Rasputin"/>
                <a:sym typeface="Rasputin"/>
              </a:rPr>
              <a:t>PPT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287" y="358840"/>
            <a:ext cx="16686914" cy="9569320"/>
          </a:xfrm>
          <a:custGeom>
            <a:avLst/>
            <a:gdLst/>
            <a:ahLst/>
            <a:cxnLst/>
            <a:rect l="l" t="t" r="r" b="b"/>
            <a:pathLst>
              <a:path w="16686914" h="9569320">
                <a:moveTo>
                  <a:pt x="0" y="0"/>
                </a:moveTo>
                <a:lnTo>
                  <a:pt x="16686915" y="0"/>
                </a:lnTo>
                <a:lnTo>
                  <a:pt x="16686915" y="9569320"/>
                </a:lnTo>
                <a:lnTo>
                  <a:pt x="0" y="9569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22484" y="3699005"/>
            <a:ext cx="13808135" cy="4140327"/>
          </a:xfrm>
          <a:custGeom>
            <a:avLst/>
            <a:gdLst/>
            <a:ahLst/>
            <a:cxnLst/>
            <a:rect l="l" t="t" r="r" b="b"/>
            <a:pathLst>
              <a:path w="13808135" h="4140327">
                <a:moveTo>
                  <a:pt x="0" y="0"/>
                </a:moveTo>
                <a:lnTo>
                  <a:pt x="13808136" y="0"/>
                </a:lnTo>
                <a:lnTo>
                  <a:pt x="13808136" y="4140327"/>
                </a:lnTo>
                <a:lnTo>
                  <a:pt x="0" y="41403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7714852" y="2435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2475169" y="4657867"/>
            <a:ext cx="10596962" cy="1028700"/>
            <a:chOff x="0" y="0"/>
            <a:chExt cx="14129282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129282" cy="1371600"/>
            </a:xfrm>
            <a:custGeom>
              <a:avLst/>
              <a:gdLst/>
              <a:ahLst/>
              <a:cxnLst/>
              <a:rect l="l" t="t" r="r" b="b"/>
              <a:pathLst>
                <a:path w="14129282" h="1371600">
                  <a:moveTo>
                    <a:pt x="0" y="0"/>
                  </a:moveTo>
                  <a:lnTo>
                    <a:pt x="14129282" y="0"/>
                  </a:lnTo>
                  <a:lnTo>
                    <a:pt x="14129282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8223" b="-6219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9883355" y="283283"/>
              <a:ext cx="2987749" cy="946676"/>
            </a:xfrm>
            <a:custGeom>
              <a:avLst/>
              <a:gdLst/>
              <a:ahLst/>
              <a:cxnLst/>
              <a:rect l="l" t="t" r="r" b="b"/>
              <a:pathLst>
                <a:path w="2987749" h="946676">
                  <a:moveTo>
                    <a:pt x="0" y="0"/>
                  </a:moveTo>
                  <a:lnTo>
                    <a:pt x="2987749" y="0"/>
                  </a:lnTo>
                  <a:lnTo>
                    <a:pt x="2987749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5201" b="-55201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98180" y="141641"/>
              <a:ext cx="10761036" cy="1229959"/>
            </a:xfrm>
            <a:custGeom>
              <a:avLst/>
              <a:gdLst/>
              <a:ahLst/>
              <a:cxnLst/>
              <a:rect l="l" t="t" r="r" b="b"/>
              <a:pathLst>
                <a:path w="10761036" h="1229959">
                  <a:moveTo>
                    <a:pt x="0" y="0"/>
                  </a:moveTo>
                  <a:lnTo>
                    <a:pt x="10761037" y="0"/>
                  </a:lnTo>
                  <a:lnTo>
                    <a:pt x="10761037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012" t="-402272" b="-39899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5145348" y="1609808"/>
            <a:ext cx="7997304" cy="689767"/>
          </a:xfrm>
          <a:custGeom>
            <a:avLst/>
            <a:gdLst/>
            <a:ahLst/>
            <a:cxnLst/>
            <a:rect l="l" t="t" r="r" b="b"/>
            <a:pathLst>
              <a:path w="7997304" h="689767">
                <a:moveTo>
                  <a:pt x="0" y="0"/>
                </a:moveTo>
                <a:lnTo>
                  <a:pt x="7997304" y="0"/>
                </a:lnTo>
                <a:lnTo>
                  <a:pt x="7997304" y="689767"/>
                </a:lnTo>
                <a:lnTo>
                  <a:pt x="0" y="6897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81938" y="4148661"/>
            <a:ext cx="1598152" cy="22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2"/>
              </a:lnSpc>
            </a:pPr>
            <a:r>
              <a:rPr lang="en-US" sz="2195" b="1" spc="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46074" y="4568647"/>
            <a:ext cx="2485987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 b="1" spc="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Members &gt;&gt;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806307" y="4441908"/>
            <a:ext cx="79086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85798" y="5283156"/>
            <a:ext cx="774611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Name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45026" y="5213556"/>
            <a:ext cx="79086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00582" y="6457779"/>
            <a:ext cx="1965970" cy="195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7"/>
              </a:lnSpc>
            </a:pPr>
            <a:r>
              <a:rPr lang="en-US" sz="2195" b="1" spc="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Institute Name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93418" y="6892119"/>
            <a:ext cx="759533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Email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51249" y="4441908"/>
            <a:ext cx="1313964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 spc="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(Leader)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48928" y="4441908"/>
            <a:ext cx="158163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79679" y="4441908"/>
            <a:ext cx="158163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410687" y="4441908"/>
            <a:ext cx="158163" cy="61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9"/>
              </a:lnSpc>
            </a:pPr>
            <a:r>
              <a:rPr lang="en-US" sz="21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796136" y="7731833"/>
            <a:ext cx="3955161" cy="627745"/>
            <a:chOff x="0" y="0"/>
            <a:chExt cx="5273548" cy="83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7714852" y="2435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9012" y="453966"/>
            <a:ext cx="16686914" cy="9569320"/>
          </a:xfrm>
          <a:custGeom>
            <a:avLst/>
            <a:gdLst/>
            <a:ahLst/>
            <a:cxnLst/>
            <a:rect l="l" t="t" r="r" b="b"/>
            <a:pathLst>
              <a:path w="16686914" h="9569320">
                <a:moveTo>
                  <a:pt x="0" y="0"/>
                </a:moveTo>
                <a:lnTo>
                  <a:pt x="16686914" y="0"/>
                </a:lnTo>
                <a:lnTo>
                  <a:pt x="16686914" y="9569320"/>
                </a:lnTo>
                <a:lnTo>
                  <a:pt x="0" y="95693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12567018" y="4692282"/>
            <a:ext cx="10413264" cy="1028700"/>
            <a:chOff x="0" y="0"/>
            <a:chExt cx="13884351" cy="137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84351" cy="1371600"/>
            </a:xfrm>
            <a:custGeom>
              <a:avLst/>
              <a:gdLst/>
              <a:ahLst/>
              <a:cxnLst/>
              <a:rect l="l" t="t" r="r" b="b"/>
              <a:pathLst>
                <a:path w="13884351" h="1371600">
                  <a:moveTo>
                    <a:pt x="0" y="0"/>
                  </a:moveTo>
                  <a:lnTo>
                    <a:pt x="13884351" y="0"/>
                  </a:lnTo>
                  <a:lnTo>
                    <a:pt x="1388435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520" b="-6025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712027" y="283283"/>
              <a:ext cx="2935957" cy="946676"/>
            </a:xfrm>
            <a:custGeom>
              <a:avLst/>
              <a:gdLst/>
              <a:ahLst/>
              <a:cxnLst/>
              <a:rect l="l" t="t" r="r" b="b"/>
              <a:pathLst>
                <a:path w="2935957" h="946676">
                  <a:moveTo>
                    <a:pt x="0" y="0"/>
                  </a:moveTo>
                  <a:lnTo>
                    <a:pt x="2935957" y="0"/>
                  </a:lnTo>
                  <a:lnTo>
                    <a:pt x="2935957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377" b="-5337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94745" y="141641"/>
              <a:ext cx="10574494" cy="1229959"/>
            </a:xfrm>
            <a:custGeom>
              <a:avLst/>
              <a:gdLst/>
              <a:ahLst/>
              <a:cxnLst/>
              <a:rect l="l" t="t" r="r" b="b"/>
              <a:pathLst>
                <a:path w="10574494" h="1229959">
                  <a:moveTo>
                    <a:pt x="0" y="0"/>
                  </a:moveTo>
                  <a:lnTo>
                    <a:pt x="10574494" y="0"/>
                  </a:lnTo>
                  <a:lnTo>
                    <a:pt x="10574494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12" t="-394432" b="-391212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508220" y="835643"/>
            <a:ext cx="5558120" cy="608895"/>
          </a:xfrm>
          <a:custGeom>
            <a:avLst/>
            <a:gdLst/>
            <a:ahLst/>
            <a:cxnLst/>
            <a:rect l="l" t="t" r="r" b="b"/>
            <a:pathLst>
              <a:path w="5558120" h="608895">
                <a:moveTo>
                  <a:pt x="0" y="0"/>
                </a:moveTo>
                <a:lnTo>
                  <a:pt x="5558120" y="0"/>
                </a:lnTo>
                <a:lnTo>
                  <a:pt x="5558120" y="608895"/>
                </a:lnTo>
                <a:lnTo>
                  <a:pt x="0" y="6088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8220" y="5266278"/>
            <a:ext cx="3015041" cy="517969"/>
          </a:xfrm>
          <a:custGeom>
            <a:avLst/>
            <a:gdLst/>
            <a:ahLst/>
            <a:cxnLst/>
            <a:rect l="l" t="t" r="r" b="b"/>
            <a:pathLst>
              <a:path w="3015041" h="517969">
                <a:moveTo>
                  <a:pt x="0" y="0"/>
                </a:moveTo>
                <a:lnTo>
                  <a:pt x="3015041" y="0"/>
                </a:lnTo>
                <a:lnTo>
                  <a:pt x="3015041" y="517969"/>
                </a:lnTo>
                <a:lnTo>
                  <a:pt x="0" y="517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734045" y="6196479"/>
            <a:ext cx="89887" cy="69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796136" y="7731833"/>
            <a:ext cx="3955161" cy="627745"/>
            <a:chOff x="0" y="0"/>
            <a:chExt cx="5273548" cy="83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300857" y="421972"/>
            <a:ext cx="16686914" cy="9569320"/>
          </a:xfrm>
          <a:custGeom>
            <a:avLst/>
            <a:gdLst/>
            <a:ahLst/>
            <a:cxnLst/>
            <a:rect l="l" t="t" r="r" b="b"/>
            <a:pathLst>
              <a:path w="16686914" h="9569320">
                <a:moveTo>
                  <a:pt x="0" y="0"/>
                </a:moveTo>
                <a:lnTo>
                  <a:pt x="16686914" y="0"/>
                </a:lnTo>
                <a:lnTo>
                  <a:pt x="16686914" y="9569320"/>
                </a:lnTo>
                <a:lnTo>
                  <a:pt x="0" y="9569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14852" y="2435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12567018" y="4692282"/>
            <a:ext cx="10413264" cy="1028700"/>
            <a:chOff x="0" y="0"/>
            <a:chExt cx="13884351" cy="137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84351" cy="1371600"/>
            </a:xfrm>
            <a:custGeom>
              <a:avLst/>
              <a:gdLst/>
              <a:ahLst/>
              <a:cxnLst/>
              <a:rect l="l" t="t" r="r" b="b"/>
              <a:pathLst>
                <a:path w="13884351" h="1371600">
                  <a:moveTo>
                    <a:pt x="0" y="0"/>
                  </a:moveTo>
                  <a:lnTo>
                    <a:pt x="13884351" y="0"/>
                  </a:lnTo>
                  <a:lnTo>
                    <a:pt x="1388435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520" b="-6025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712027" y="283283"/>
              <a:ext cx="2935957" cy="946676"/>
            </a:xfrm>
            <a:custGeom>
              <a:avLst/>
              <a:gdLst/>
              <a:ahLst/>
              <a:cxnLst/>
              <a:rect l="l" t="t" r="r" b="b"/>
              <a:pathLst>
                <a:path w="2935957" h="946676">
                  <a:moveTo>
                    <a:pt x="0" y="0"/>
                  </a:moveTo>
                  <a:lnTo>
                    <a:pt x="2935957" y="0"/>
                  </a:lnTo>
                  <a:lnTo>
                    <a:pt x="2935957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377" b="-5337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94745" y="141641"/>
              <a:ext cx="10574494" cy="1229959"/>
            </a:xfrm>
            <a:custGeom>
              <a:avLst/>
              <a:gdLst/>
              <a:ahLst/>
              <a:cxnLst/>
              <a:rect l="l" t="t" r="r" b="b"/>
              <a:pathLst>
                <a:path w="10574494" h="1229959">
                  <a:moveTo>
                    <a:pt x="0" y="0"/>
                  </a:moveTo>
                  <a:lnTo>
                    <a:pt x="10574494" y="0"/>
                  </a:lnTo>
                  <a:lnTo>
                    <a:pt x="10574494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12" t="-394432" b="-391212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591283" y="890926"/>
            <a:ext cx="5020964" cy="673100"/>
          </a:xfrm>
          <a:custGeom>
            <a:avLst/>
            <a:gdLst/>
            <a:ahLst/>
            <a:cxnLst/>
            <a:rect l="l" t="t" r="r" b="b"/>
            <a:pathLst>
              <a:path w="5020964" h="673100">
                <a:moveTo>
                  <a:pt x="0" y="0"/>
                </a:moveTo>
                <a:lnTo>
                  <a:pt x="5020964" y="0"/>
                </a:lnTo>
                <a:lnTo>
                  <a:pt x="5020964" y="673101"/>
                </a:lnTo>
                <a:lnTo>
                  <a:pt x="0" y="6731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796136" y="7731833"/>
            <a:ext cx="3955161" cy="627745"/>
            <a:chOff x="0" y="0"/>
            <a:chExt cx="5273548" cy="83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13302" y="358840"/>
            <a:ext cx="16686914" cy="9569320"/>
          </a:xfrm>
          <a:custGeom>
            <a:avLst/>
            <a:gdLst/>
            <a:ahLst/>
            <a:cxnLst/>
            <a:rect l="l" t="t" r="r" b="b"/>
            <a:pathLst>
              <a:path w="16686914" h="9569320">
                <a:moveTo>
                  <a:pt x="0" y="0"/>
                </a:moveTo>
                <a:lnTo>
                  <a:pt x="16686914" y="0"/>
                </a:lnTo>
                <a:lnTo>
                  <a:pt x="16686914" y="9569320"/>
                </a:lnTo>
                <a:lnTo>
                  <a:pt x="0" y="95693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14852" y="2435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12567018" y="4692282"/>
            <a:ext cx="10413264" cy="1028700"/>
            <a:chOff x="0" y="0"/>
            <a:chExt cx="13884351" cy="137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84351" cy="1371600"/>
            </a:xfrm>
            <a:custGeom>
              <a:avLst/>
              <a:gdLst/>
              <a:ahLst/>
              <a:cxnLst/>
              <a:rect l="l" t="t" r="r" b="b"/>
              <a:pathLst>
                <a:path w="13884351" h="1371600">
                  <a:moveTo>
                    <a:pt x="0" y="0"/>
                  </a:moveTo>
                  <a:lnTo>
                    <a:pt x="13884351" y="0"/>
                  </a:lnTo>
                  <a:lnTo>
                    <a:pt x="1388435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520" b="-6025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712027" y="283283"/>
              <a:ext cx="2935957" cy="946676"/>
            </a:xfrm>
            <a:custGeom>
              <a:avLst/>
              <a:gdLst/>
              <a:ahLst/>
              <a:cxnLst/>
              <a:rect l="l" t="t" r="r" b="b"/>
              <a:pathLst>
                <a:path w="2935957" h="946676">
                  <a:moveTo>
                    <a:pt x="0" y="0"/>
                  </a:moveTo>
                  <a:lnTo>
                    <a:pt x="2935957" y="0"/>
                  </a:lnTo>
                  <a:lnTo>
                    <a:pt x="2935957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377" b="-5337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94745" y="141641"/>
              <a:ext cx="10574494" cy="1229959"/>
            </a:xfrm>
            <a:custGeom>
              <a:avLst/>
              <a:gdLst/>
              <a:ahLst/>
              <a:cxnLst/>
              <a:rect l="l" t="t" r="r" b="b"/>
              <a:pathLst>
                <a:path w="10574494" h="1229959">
                  <a:moveTo>
                    <a:pt x="0" y="0"/>
                  </a:moveTo>
                  <a:lnTo>
                    <a:pt x="10574494" y="0"/>
                  </a:lnTo>
                  <a:lnTo>
                    <a:pt x="10574494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12" t="-394432" b="-391212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415370" y="701408"/>
            <a:ext cx="5563962" cy="654584"/>
          </a:xfrm>
          <a:custGeom>
            <a:avLst/>
            <a:gdLst/>
            <a:ahLst/>
            <a:cxnLst/>
            <a:rect l="l" t="t" r="r" b="b"/>
            <a:pathLst>
              <a:path w="5563962" h="654584">
                <a:moveTo>
                  <a:pt x="0" y="0"/>
                </a:moveTo>
                <a:lnTo>
                  <a:pt x="5563962" y="0"/>
                </a:lnTo>
                <a:lnTo>
                  <a:pt x="5563962" y="654584"/>
                </a:lnTo>
                <a:lnTo>
                  <a:pt x="0" y="6545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296429" y="2605935"/>
            <a:ext cx="89887" cy="69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24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4925" y="4606566"/>
            <a:ext cx="89887" cy="221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7"/>
              </a:lnSpc>
            </a:pPr>
            <a:r>
              <a:rPr lang="en-US" sz="249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839" y="421972"/>
            <a:ext cx="16686914" cy="9569320"/>
          </a:xfrm>
          <a:custGeom>
            <a:avLst/>
            <a:gdLst/>
            <a:ahLst/>
            <a:cxnLst/>
            <a:rect l="l" t="t" r="r" b="b"/>
            <a:pathLst>
              <a:path w="16686914" h="9569320">
                <a:moveTo>
                  <a:pt x="0" y="0"/>
                </a:moveTo>
                <a:lnTo>
                  <a:pt x="16686914" y="0"/>
                </a:lnTo>
                <a:lnTo>
                  <a:pt x="16686914" y="9569320"/>
                </a:lnTo>
                <a:lnTo>
                  <a:pt x="0" y="9569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5796136" y="7731833"/>
            <a:ext cx="3955161" cy="627745"/>
            <a:chOff x="0" y="0"/>
            <a:chExt cx="5273548" cy="83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7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7714852" y="2435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12567018" y="4692282"/>
            <a:ext cx="10413264" cy="1028700"/>
            <a:chOff x="0" y="0"/>
            <a:chExt cx="13884351" cy="137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884351" cy="1371600"/>
            </a:xfrm>
            <a:custGeom>
              <a:avLst/>
              <a:gdLst/>
              <a:ahLst/>
              <a:cxnLst/>
              <a:rect l="l" t="t" r="r" b="b"/>
              <a:pathLst>
                <a:path w="13884351" h="1371600">
                  <a:moveTo>
                    <a:pt x="0" y="0"/>
                  </a:moveTo>
                  <a:lnTo>
                    <a:pt x="13884351" y="0"/>
                  </a:lnTo>
                  <a:lnTo>
                    <a:pt x="1388435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520" b="-60254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9712027" y="283283"/>
              <a:ext cx="2935957" cy="946676"/>
            </a:xfrm>
            <a:custGeom>
              <a:avLst/>
              <a:gdLst/>
              <a:ahLst/>
              <a:cxnLst/>
              <a:rect l="l" t="t" r="r" b="b"/>
              <a:pathLst>
                <a:path w="2935957" h="946676">
                  <a:moveTo>
                    <a:pt x="0" y="0"/>
                  </a:moveTo>
                  <a:lnTo>
                    <a:pt x="2935957" y="0"/>
                  </a:lnTo>
                  <a:lnTo>
                    <a:pt x="2935957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377" b="-5337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94745" y="141641"/>
              <a:ext cx="10574494" cy="1229959"/>
            </a:xfrm>
            <a:custGeom>
              <a:avLst/>
              <a:gdLst/>
              <a:ahLst/>
              <a:cxnLst/>
              <a:rect l="l" t="t" r="r" b="b"/>
              <a:pathLst>
                <a:path w="10574494" h="1229959">
                  <a:moveTo>
                    <a:pt x="0" y="0"/>
                  </a:moveTo>
                  <a:lnTo>
                    <a:pt x="10574494" y="0"/>
                  </a:lnTo>
                  <a:lnTo>
                    <a:pt x="10574494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12" t="-394432" b="-391212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453339" y="866485"/>
            <a:ext cx="3094227" cy="645422"/>
          </a:xfrm>
          <a:custGeom>
            <a:avLst/>
            <a:gdLst/>
            <a:ahLst/>
            <a:cxnLst/>
            <a:rect l="l" t="t" r="r" b="b"/>
            <a:pathLst>
              <a:path w="3094227" h="645422">
                <a:moveTo>
                  <a:pt x="0" y="0"/>
                </a:moveTo>
                <a:lnTo>
                  <a:pt x="3094227" y="0"/>
                </a:lnTo>
                <a:lnTo>
                  <a:pt x="3094227" y="645421"/>
                </a:lnTo>
                <a:lnTo>
                  <a:pt x="0" y="645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5796136" y="7731833"/>
            <a:ext cx="3955161" cy="627745"/>
            <a:chOff x="0" y="0"/>
            <a:chExt cx="5273548" cy="8369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7714852" y="2435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-5400000">
            <a:off x="12567018" y="4629150"/>
            <a:ext cx="10413264" cy="1028700"/>
            <a:chOff x="0" y="0"/>
            <a:chExt cx="13884351" cy="1371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84351" cy="1371600"/>
            </a:xfrm>
            <a:custGeom>
              <a:avLst/>
              <a:gdLst/>
              <a:ahLst/>
              <a:cxnLst/>
              <a:rect l="l" t="t" r="r" b="b"/>
              <a:pathLst>
                <a:path w="13884351" h="1371600">
                  <a:moveTo>
                    <a:pt x="0" y="0"/>
                  </a:moveTo>
                  <a:lnTo>
                    <a:pt x="13884351" y="0"/>
                  </a:lnTo>
                  <a:lnTo>
                    <a:pt x="1388435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6520" b="-60254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9712027" y="283283"/>
              <a:ext cx="2935957" cy="946676"/>
            </a:xfrm>
            <a:custGeom>
              <a:avLst/>
              <a:gdLst/>
              <a:ahLst/>
              <a:cxnLst/>
              <a:rect l="l" t="t" r="r" b="b"/>
              <a:pathLst>
                <a:path w="2935957" h="946676">
                  <a:moveTo>
                    <a:pt x="0" y="0"/>
                  </a:moveTo>
                  <a:lnTo>
                    <a:pt x="2935957" y="0"/>
                  </a:lnTo>
                  <a:lnTo>
                    <a:pt x="2935957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3377" b="-53377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94745" y="141641"/>
              <a:ext cx="10574494" cy="1229959"/>
            </a:xfrm>
            <a:custGeom>
              <a:avLst/>
              <a:gdLst/>
              <a:ahLst/>
              <a:cxnLst/>
              <a:rect l="l" t="t" r="r" b="b"/>
              <a:pathLst>
                <a:path w="10574494" h="1229959">
                  <a:moveTo>
                    <a:pt x="0" y="0"/>
                  </a:moveTo>
                  <a:lnTo>
                    <a:pt x="10574494" y="0"/>
                  </a:lnTo>
                  <a:lnTo>
                    <a:pt x="10574494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012" t="-394432" b="-391212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06605" y="421972"/>
            <a:ext cx="16742706" cy="9601314"/>
          </a:xfrm>
          <a:custGeom>
            <a:avLst/>
            <a:gdLst/>
            <a:ahLst/>
            <a:cxnLst/>
            <a:rect l="l" t="t" r="r" b="b"/>
            <a:pathLst>
              <a:path w="16742706" h="9601314">
                <a:moveTo>
                  <a:pt x="0" y="0"/>
                </a:moveTo>
                <a:lnTo>
                  <a:pt x="16742705" y="0"/>
                </a:lnTo>
                <a:lnTo>
                  <a:pt x="16742705" y="9601314"/>
                </a:lnTo>
                <a:lnTo>
                  <a:pt x="0" y="96013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473837" y="1749797"/>
          <a:ext cx="14602293" cy="7508503"/>
        </p:xfrm>
        <a:graphic>
          <a:graphicData uri="http://schemas.openxmlformats.org/drawingml/2006/table">
            <a:tbl>
              <a:tblPr/>
              <a:tblGrid>
                <a:gridCol w="762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92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73502">
                <a:tc rowSpan="2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2018">
                <a:tc v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492">
                <a:tc rowSpan="2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1492">
                <a:tc v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Freeform 11"/>
          <p:cNvSpPr/>
          <p:nvPr/>
        </p:nvSpPr>
        <p:spPr>
          <a:xfrm>
            <a:off x="6500460" y="704507"/>
            <a:ext cx="4858451" cy="648386"/>
          </a:xfrm>
          <a:custGeom>
            <a:avLst/>
            <a:gdLst/>
            <a:ahLst/>
            <a:cxnLst/>
            <a:rect l="l" t="t" r="r" b="b"/>
            <a:pathLst>
              <a:path w="4858451" h="648386">
                <a:moveTo>
                  <a:pt x="0" y="0"/>
                </a:moveTo>
                <a:lnTo>
                  <a:pt x="4858451" y="0"/>
                </a:lnTo>
                <a:lnTo>
                  <a:pt x="4858451" y="648386"/>
                </a:lnTo>
                <a:lnTo>
                  <a:pt x="0" y="648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5762" y="358840"/>
            <a:ext cx="16686914" cy="9569320"/>
          </a:xfrm>
          <a:custGeom>
            <a:avLst/>
            <a:gdLst/>
            <a:ahLst/>
            <a:cxnLst/>
            <a:rect l="l" t="t" r="r" b="b"/>
            <a:pathLst>
              <a:path w="16686914" h="9569320">
                <a:moveTo>
                  <a:pt x="0" y="0"/>
                </a:moveTo>
                <a:lnTo>
                  <a:pt x="16686915" y="0"/>
                </a:lnTo>
                <a:lnTo>
                  <a:pt x="16686915" y="9569320"/>
                </a:lnTo>
                <a:lnTo>
                  <a:pt x="0" y="9569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5796136" y="7731833"/>
            <a:ext cx="3955161" cy="627745"/>
            <a:chOff x="0" y="0"/>
            <a:chExt cx="5273548" cy="8369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7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-5400000">
            <a:off x="15948536" y="7884233"/>
            <a:ext cx="3955161" cy="627745"/>
            <a:chOff x="0" y="0"/>
            <a:chExt cx="5273548" cy="8369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273548" cy="837057"/>
            </a:xfrm>
            <a:custGeom>
              <a:avLst/>
              <a:gdLst/>
              <a:ahLst/>
              <a:cxnLst/>
              <a:rect l="l" t="t" r="r" b="b"/>
              <a:pathLst>
                <a:path w="5273548" h="837057">
                  <a:moveTo>
                    <a:pt x="0" y="0"/>
                  </a:moveTo>
                  <a:lnTo>
                    <a:pt x="5273548" y="0"/>
                  </a:lnTo>
                  <a:lnTo>
                    <a:pt x="5273548" y="837057"/>
                  </a:lnTo>
                  <a:lnTo>
                    <a:pt x="0" y="83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7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7867252" y="395954"/>
            <a:ext cx="117853" cy="5540692"/>
          </a:xfrm>
          <a:custGeom>
            <a:avLst/>
            <a:gdLst/>
            <a:ahLst/>
            <a:cxnLst/>
            <a:rect l="l" t="t" r="r" b="b"/>
            <a:pathLst>
              <a:path w="117853" h="5540692">
                <a:moveTo>
                  <a:pt x="0" y="0"/>
                </a:moveTo>
                <a:lnTo>
                  <a:pt x="117853" y="0"/>
                </a:lnTo>
                <a:lnTo>
                  <a:pt x="117853" y="5540693"/>
                </a:lnTo>
                <a:lnTo>
                  <a:pt x="0" y="55406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-5400000">
            <a:off x="12567018" y="4692282"/>
            <a:ext cx="10413264" cy="1028700"/>
            <a:chOff x="0" y="0"/>
            <a:chExt cx="13884351" cy="1371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884351" cy="1371600"/>
            </a:xfrm>
            <a:custGeom>
              <a:avLst/>
              <a:gdLst/>
              <a:ahLst/>
              <a:cxnLst/>
              <a:rect l="l" t="t" r="r" b="b"/>
              <a:pathLst>
                <a:path w="13884351" h="1371600">
                  <a:moveTo>
                    <a:pt x="0" y="0"/>
                  </a:moveTo>
                  <a:lnTo>
                    <a:pt x="13884351" y="0"/>
                  </a:lnTo>
                  <a:lnTo>
                    <a:pt x="13884351" y="1371600"/>
                  </a:lnTo>
                  <a:lnTo>
                    <a:pt x="0" y="1371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520" b="-60254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9712027" y="283283"/>
              <a:ext cx="2935957" cy="946676"/>
            </a:xfrm>
            <a:custGeom>
              <a:avLst/>
              <a:gdLst/>
              <a:ahLst/>
              <a:cxnLst/>
              <a:rect l="l" t="t" r="r" b="b"/>
              <a:pathLst>
                <a:path w="2935957" h="946676">
                  <a:moveTo>
                    <a:pt x="0" y="0"/>
                  </a:moveTo>
                  <a:lnTo>
                    <a:pt x="2935957" y="0"/>
                  </a:lnTo>
                  <a:lnTo>
                    <a:pt x="2935957" y="946676"/>
                  </a:lnTo>
                  <a:lnTo>
                    <a:pt x="0" y="946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3377" b="-53377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94745" y="141641"/>
              <a:ext cx="10574494" cy="1229959"/>
            </a:xfrm>
            <a:custGeom>
              <a:avLst/>
              <a:gdLst/>
              <a:ahLst/>
              <a:cxnLst/>
              <a:rect l="l" t="t" r="r" b="b"/>
              <a:pathLst>
                <a:path w="10574494" h="1229959">
                  <a:moveTo>
                    <a:pt x="0" y="0"/>
                  </a:moveTo>
                  <a:lnTo>
                    <a:pt x="10574494" y="0"/>
                  </a:lnTo>
                  <a:lnTo>
                    <a:pt x="10574494" y="1229959"/>
                  </a:lnTo>
                  <a:lnTo>
                    <a:pt x="0" y="1229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012" t="-394432" b="-391212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445326" y="686579"/>
            <a:ext cx="3905883" cy="684242"/>
          </a:xfrm>
          <a:custGeom>
            <a:avLst/>
            <a:gdLst/>
            <a:ahLst/>
            <a:cxnLst/>
            <a:rect l="l" t="t" r="r" b="b"/>
            <a:pathLst>
              <a:path w="3905883" h="684242">
                <a:moveTo>
                  <a:pt x="0" y="0"/>
                </a:moveTo>
                <a:lnTo>
                  <a:pt x="3905883" y="0"/>
                </a:lnTo>
                <a:lnTo>
                  <a:pt x="3905883" y="684242"/>
                </a:lnTo>
                <a:lnTo>
                  <a:pt x="0" y="684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45326" y="4584949"/>
            <a:ext cx="4779220" cy="755647"/>
          </a:xfrm>
          <a:custGeom>
            <a:avLst/>
            <a:gdLst/>
            <a:ahLst/>
            <a:cxnLst/>
            <a:rect l="l" t="t" r="r" b="b"/>
            <a:pathLst>
              <a:path w="4779220" h="755647">
                <a:moveTo>
                  <a:pt x="0" y="0"/>
                </a:moveTo>
                <a:lnTo>
                  <a:pt x="4779220" y="0"/>
                </a:lnTo>
                <a:lnTo>
                  <a:pt x="4779220" y="755647"/>
                </a:lnTo>
                <a:lnTo>
                  <a:pt x="0" y="7556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08324" y="4829832"/>
            <a:ext cx="89887" cy="697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24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671878" y="5134632"/>
            <a:ext cx="89887" cy="39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95" b="1" spc="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26354" y="5515632"/>
            <a:ext cx="89887" cy="39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71833" y="5896632"/>
            <a:ext cx="90859" cy="773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495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  <a:p>
            <a:pPr algn="just">
              <a:lnSpc>
                <a:spcPts val="3000"/>
              </a:lnSpc>
            </a:pPr>
            <a:r>
              <a:rPr lang="en-US" sz="2495" b="1" spc="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37914" y="7039880"/>
            <a:ext cx="89887" cy="392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495" b="1" spc="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ArogyaSatya: Agentic AI Misinformation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Template-based submission deck with architecture and flow diagrams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 misinformation propagates rapidly across text, images, and videos.</a:t>
            </a:r>
          </a:p>
          <a:p>
            <a:r>
              <a:t>Objective: verify claims with evidence-backed, explainable, multi-agent reasoning.</a:t>
            </a:r>
          </a:p>
          <a:p>
            <a:r>
              <a:t>Approach: orchestrated Agentic AI pipeline (LangGraph + retrieval + verification).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Architecture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914400"/>
            <a:ext cx="1371600" cy="548640"/>
          </a:xfrm>
          <a:prstGeom prst="roundRect">
            <a:avLst/>
          </a:prstGeom>
          <a:solidFill>
            <a:srgbClr val="DBEAF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914400"/>
            <a:ext cx="173736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Next.js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914400"/>
            <a:ext cx="1828800" cy="54864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FastAPI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914400"/>
            <a:ext cx="2011680" cy="548640"/>
          </a:xfrm>
          <a:prstGeom prst="roundRect">
            <a:avLst/>
          </a:prstGeom>
          <a:solidFill>
            <a:srgbClr val="EDE9FE"/>
          </a:solidFill>
          <a:ln>
            <a:solidFill>
              <a:srgbClr val="5B21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LangGraph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Orchestrator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920240"/>
            <a:ext cx="137160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Safety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920240"/>
            <a:ext cx="164592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Claim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Extraction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920240"/>
            <a:ext cx="164592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Canonicalization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920240"/>
            <a:ext cx="164592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Evidence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920240"/>
            <a:ext cx="1645920" cy="502920"/>
          </a:xfrm>
          <a:prstGeom prst="roundRect">
            <a:avLst/>
          </a:prstGeom>
          <a:solidFill>
            <a:srgbClr val="FFEDD5"/>
          </a:solidFill>
          <a:ln>
            <a:solidFill>
              <a:srgbClr val="9A34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Verification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Explainer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3108960"/>
            <a:ext cx="1828800" cy="548640"/>
          </a:xfrm>
          <a:prstGeom prst="roundRect">
            <a:avLst/>
          </a:prstGeom>
          <a:solidFill>
            <a:srgbClr val="ECFDF5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SQL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108960"/>
            <a:ext cx="1828800" cy="548640"/>
          </a:xfrm>
          <a:prstGeom prst="roundRect">
            <a:avLst/>
          </a:prstGeom>
          <a:solidFill>
            <a:srgbClr val="ECFDF5"/>
          </a:solidFill>
          <a:ln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Vector 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108960"/>
            <a:ext cx="1828800" cy="548640"/>
          </a:xfrm>
          <a:prstGeom prst="roundRect">
            <a:avLst/>
          </a:prstGeom>
          <a:solidFill>
            <a:srgbClr val="FEF2F2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Groq LLM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3108960"/>
            <a:ext cx="1828800" cy="548640"/>
          </a:xfrm>
          <a:prstGeom prst="roundRect">
            <a:avLst/>
          </a:prstGeom>
          <a:solidFill>
            <a:srgbClr val="FEF2F2"/>
          </a:solidFill>
          <a:ln>
            <a:solidFill>
              <a:srgbClr val="7F1D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Trusted Sources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1188720"/>
            <a:ext cx="27432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31920" y="1188720"/>
            <a:ext cx="36576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26480" y="1188720"/>
            <a:ext cx="36576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828800" y="1463040"/>
            <a:ext cx="5669279" cy="4572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474720" y="1463040"/>
            <a:ext cx="4023359" cy="4572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486400" y="1463040"/>
            <a:ext cx="2011679" cy="4572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1463040"/>
            <a:ext cx="0" cy="4572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98079" y="1463040"/>
            <a:ext cx="2011681" cy="4572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303520" y="2423160"/>
            <a:ext cx="182880" cy="6858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60" y="2423160"/>
            <a:ext cx="182880" cy="68580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Agentic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1371600" cy="502920"/>
          </a:xfrm>
          <a:prstGeom prst="roundRect">
            <a:avLst/>
          </a:prstGeom>
          <a:solidFill>
            <a:srgbClr val="DBEAFE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1280160"/>
            <a:ext cx="1371600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Preprocess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1280160"/>
            <a:ext cx="1463040" cy="502920"/>
          </a:xfrm>
          <a:prstGeom prst="roundRect">
            <a:avLst/>
          </a:prstGeom>
          <a:solidFill>
            <a:srgbClr val="FEF3C7"/>
          </a:solidFill>
          <a:ln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Safety Gate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280160"/>
            <a:ext cx="1645920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Claim Extraction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280160"/>
            <a:ext cx="1463040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Canonicalize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280160"/>
            <a:ext cx="1463040" cy="502920"/>
          </a:xfrm>
          <a:prstGeom prst="roundRect">
            <a:avLst/>
          </a:prstGeom>
          <a:solidFill>
            <a:srgbClr val="E0E7FF"/>
          </a:solidFill>
          <a:ln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560320"/>
            <a:ext cx="1645920" cy="50292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PubMed + Web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560320"/>
            <a:ext cx="1463040" cy="50292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560320"/>
            <a:ext cx="1737360" cy="502920"/>
          </a:xfrm>
          <a:prstGeom prst="roundRect">
            <a:avLst/>
          </a:prstGeom>
          <a:solidFill>
            <a:srgbClr val="CFFAFE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560320"/>
            <a:ext cx="1828800" cy="502920"/>
          </a:xfrm>
          <a:prstGeom prst="roundRect">
            <a:avLst/>
          </a:prstGeom>
          <a:solidFill>
            <a:srgbClr val="DCFCE7"/>
          </a:solidFill>
          <a:ln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Final Report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20240" y="1554480"/>
            <a:ext cx="27432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1554480"/>
            <a:ext cx="27432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303520" y="1554480"/>
            <a:ext cx="27432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23760" y="1554480"/>
            <a:ext cx="274319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20" y="1554480"/>
            <a:ext cx="27432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00400" y="1783080"/>
            <a:ext cx="6766560" cy="77724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23360" y="2788920"/>
            <a:ext cx="45720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43600" y="2788920"/>
            <a:ext cx="36576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46720" y="2788920"/>
            <a:ext cx="365760" cy="0"/>
          </a:xfrm>
          <a:prstGeom prst="line">
            <a:avLst/>
          </a:prstGeom>
          <a:ln w="22225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Conditional short-circuits: unsafe input -&gt; safety response; no claims -&gt; early exit summary.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Outcomes and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Claim-level verdicts with evidence traces and human-readable explanation.</a:t>
            </a:r>
          </a:p>
          <a:p>
            <a:r>
              <a:t>Multimodal support: text + image + video transcripts in one pipeline.</a:t>
            </a:r>
          </a:p>
          <a:p>
            <a:r>
              <a:t>Reusable canonical memory for recurring misinformation narratives.</a:t>
            </a:r>
          </a:p>
          <a:p>
            <a:r>
              <a:t>Hackathon-ready, production-leaning architecture.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to Industry Grade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CI/CD with lint, tests, and security scanning gates.</a:t>
            </a:r>
          </a:p>
          <a:p>
            <a:r>
              <a:t>Asynchronous queue for heavy multimodal jobs and p95 latency control.</a:t>
            </a:r>
          </a:p>
          <a:p>
            <a:r>
              <a:t>Observability: per-agent latency, token cost, and quality metrics.</a:t>
            </a:r>
          </a:p>
          <a:p>
            <a:r>
              <a:t>Governance: stronger policy controls and provenance UX.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Office PowerPoint</Application>
  <PresentationFormat>Custom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Cinzel</vt:lpstr>
      <vt:lpstr>Rasputin</vt:lpstr>
      <vt:lpstr>Arial Bold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ArogyaSatya: Agentic AI Misinformation Verification</vt:lpstr>
      <vt:lpstr>Problem and Objective</vt:lpstr>
      <vt:lpstr>PowerPoint Presentation</vt:lpstr>
      <vt:lpstr>PowerPoint Presentation</vt:lpstr>
      <vt:lpstr>System Outcomes and Value</vt:lpstr>
      <vt:lpstr>Roadmap to Industry Grade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HACKANOVA 5.0 (SOFTWARE) - PPT TEMPLATE</dc:title>
  <cp:lastModifiedBy>Taitil Chheda</cp:lastModifiedBy>
  <cp:revision>2</cp:revision>
  <dcterms:created xsi:type="dcterms:W3CDTF">2006-08-16T00:00:00Z</dcterms:created>
  <dcterms:modified xsi:type="dcterms:W3CDTF">2026-03-09T13:42:34Z</dcterms:modified>
  <dc:identifier>DAG_mbJ-r80</dc:identifier>
</cp:coreProperties>
</file>