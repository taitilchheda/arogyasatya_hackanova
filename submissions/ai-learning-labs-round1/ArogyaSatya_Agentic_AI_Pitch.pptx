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0F4FF"/>
                </a:solidFill>
              </a:defRPr>
            </a:pPr>
            <a:r>
              <a:t>ArogyaSatya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ED2"/>
                </a:solidFill>
              </a:defRPr>
            </a:pPr>
            <a:r>
              <a:t>Agentic AI for Healthcare Misinformation Verification</a:t>
            </a:r>
            <a:br/>
            <a:r>
              <a:t>Evidence-grounded, multimodal, multi-agent reasoning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23360"/>
            <a:ext cx="29260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0F4FF"/>
                </a:solidFill>
              </a:defRPr>
            </a:pPr>
            <a:r>
              <a:t>Agentic AI Hackathon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4FF"/>
                </a:solidFill>
              </a:defRPr>
            </a:pPr>
            <a:r>
              <a:t>Problem and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1A1E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Healthcare misinformation spreads faster than manual fact-checking can respond.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Single-shot LLM answers are unreliable for high-stakes domains without evidence grounding.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Objective: build an agentic pipeline that verifies claims with traceable evidence and clear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4FF"/>
                </a:solidFill>
              </a:defRPr>
            </a:pPr>
            <a:r>
              <a:t>Why This Is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1A1E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State-machine orchestration with LangGraph, not a single prompt-response workflow.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Specialized agents: safety, extraction, canonicalization, retrieval, verification, explainer.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Dynamic control flow with safety gates and early exits when claims are absent.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Persistent memory via SQL + vector store for continuity and trend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F"/>
                </a:solidFill>
              </a:defRPr>
            </a:pPr>
            <a:r>
              <a:t>System Architecture (Editable)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463040" cy="731520"/>
          </a:xfrm>
          <a:prstGeom prst="roundRect">
            <a:avLst/>
          </a:prstGeom>
          <a:solidFill>
            <a:srgbClr val="30406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371600"/>
            <a:ext cx="182880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Next.js</a:t>
            </a:r>
            <a:br/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1828800" cy="731520"/>
          </a:xfrm>
          <a:prstGeom prst="roundRect">
            <a:avLst/>
          </a:prstGeom>
          <a:solidFill>
            <a:srgbClr val="1453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FastAPI</a:t>
            </a:r>
            <a:br/>
            <a: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71600"/>
            <a:ext cx="2194560" cy="731520"/>
          </a:xfrm>
          <a:prstGeom prst="roundRect">
            <a:avLst/>
          </a:prstGeom>
          <a:solidFill>
            <a:srgbClr val="4C1D9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LangGraph</a:t>
            </a:r>
            <a:br/>
            <a: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834640"/>
            <a:ext cx="1737360" cy="640080"/>
          </a:xfrm>
          <a:prstGeom prst="roundRect">
            <a:avLst/>
          </a:prstGeom>
          <a:solidFill>
            <a:srgbClr val="78350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2834640"/>
            <a:ext cx="1737360" cy="640080"/>
          </a:xfrm>
          <a:prstGeom prst="roundRect">
            <a:avLst/>
          </a:prstGeom>
          <a:solidFill>
            <a:srgbClr val="78350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Claim</a:t>
            </a:r>
            <a:br/>
            <a:r>
              <a:t>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834640"/>
            <a:ext cx="1737360" cy="640080"/>
          </a:xfrm>
          <a:prstGeom prst="roundRect">
            <a:avLst/>
          </a:prstGeom>
          <a:solidFill>
            <a:srgbClr val="78350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Canonicalize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1737360" cy="640080"/>
          </a:xfrm>
          <a:prstGeom prst="roundRect">
            <a:avLst/>
          </a:prstGeom>
          <a:solidFill>
            <a:srgbClr val="78350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Evidence +</a:t>
            </a:r>
            <a:br/>
            <a: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206240"/>
            <a:ext cx="2011680" cy="731520"/>
          </a:xfrm>
          <a:prstGeom prst="roundRect">
            <a:avLst/>
          </a:prstGeom>
          <a:solidFill>
            <a:srgbClr val="115E5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SQL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206240"/>
            <a:ext cx="2011680" cy="731520"/>
          </a:xfrm>
          <a:prstGeom prst="roundRect">
            <a:avLst/>
          </a:prstGeom>
          <a:solidFill>
            <a:srgbClr val="115E59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Vector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4206240"/>
            <a:ext cx="2011680" cy="731520"/>
          </a:xfrm>
          <a:prstGeom prst="roundRect">
            <a:avLst/>
          </a:prstGeom>
          <a:solidFill>
            <a:srgbClr val="7C2D12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Groq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11680" y="1737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1737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00800" y="17373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834640" y="2103120"/>
            <a:ext cx="502920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846320" y="2103120"/>
            <a:ext cx="301752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858000" y="2103120"/>
            <a:ext cx="100584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63840" y="2103120"/>
            <a:ext cx="100584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108960" y="3474720"/>
            <a:ext cx="173736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577840" y="3474720"/>
            <a:ext cx="18288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46720" y="3474720"/>
            <a:ext cx="36576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4FF"/>
                </a:solidFill>
              </a:defRPr>
            </a:pPr>
            <a:r>
              <a:t>Agent Execution Flow (Editable)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1463040" cy="64008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645920"/>
            <a:ext cx="1645920" cy="640080"/>
          </a:xfrm>
          <a:prstGeom prst="roundRect">
            <a:avLst/>
          </a:prstGeom>
          <a:solidFill>
            <a:srgbClr val="4338C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Video Proc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1554480" cy="640080"/>
          </a:xfrm>
          <a:prstGeom prst="roundRect">
            <a:avLst/>
          </a:prstGeom>
          <a:solidFill>
            <a:srgbClr val="92400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1828800" cy="640080"/>
          </a:xfrm>
          <a:prstGeom prst="roundRect">
            <a:avLst/>
          </a:prstGeom>
          <a:solidFill>
            <a:srgbClr val="4338C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Claim Extract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645920"/>
            <a:ext cx="1828800" cy="640080"/>
          </a:xfrm>
          <a:prstGeom prst="roundRect">
            <a:avLst/>
          </a:prstGeom>
          <a:solidFill>
            <a:srgbClr val="4338C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Canonicalize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200400"/>
            <a:ext cx="1828800" cy="640080"/>
          </a:xfrm>
          <a:prstGeom prst="roundRect">
            <a:avLst/>
          </a:prstGeom>
          <a:solidFill>
            <a:srgbClr val="0F76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Retrieve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3200400"/>
            <a:ext cx="1737360" cy="640080"/>
          </a:xfrm>
          <a:prstGeom prst="roundRect">
            <a:avLst/>
          </a:prstGeom>
          <a:solidFill>
            <a:srgbClr val="0F76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PubMed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200400"/>
            <a:ext cx="1645920" cy="640080"/>
          </a:xfrm>
          <a:prstGeom prst="roundRect">
            <a:avLst/>
          </a:prstGeom>
          <a:solidFill>
            <a:srgbClr val="0F76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200400"/>
            <a:ext cx="1828800" cy="640080"/>
          </a:xfrm>
          <a:prstGeom prst="roundRect">
            <a:avLst/>
          </a:prstGeom>
          <a:solidFill>
            <a:srgbClr val="0F766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572000"/>
            <a:ext cx="1828800" cy="640080"/>
          </a:xfrm>
          <a:prstGeom prst="roundRect">
            <a:avLst/>
          </a:prstGeom>
          <a:solidFill>
            <a:srgbClr val="16A34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0F4FF"/>
                </a:solidFill>
              </a:defRPr>
            </a:pPr>
            <a:r>
              <a:t>Final Report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11680" y="19659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23360" y="19659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943600" y="19659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38160" y="196596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560320" y="2286000"/>
            <a:ext cx="6858000" cy="91440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74720" y="352044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3520440"/>
            <a:ext cx="36576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89520" y="3520440"/>
            <a:ext cx="365759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852160" y="3840480"/>
            <a:ext cx="3017520" cy="7315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BED2"/>
                </a:solidFill>
              </a:defRPr>
            </a:pPr>
            <a:r>
              <a:t>Conditional routing: unsafe content and no-claim paths short-circuit to controlled explainers.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4FF"/>
                </a:solidFill>
              </a:defRPr>
            </a:pPr>
            <a:r>
              <a:t>Technology Decisions and Trade-offs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1A1E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LangGraph chosen for deterministic multi-agent control; trade-off is higher orchestration complexity.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Hybrid SQL + vector memory chosen for both traceability and semantic retrieval; trade-off is dual-store consistency.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Local multimodal models improve privacy/cost control; trade-off is heavier runtime dependencies.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4FF"/>
                </a:solidFill>
              </a:defRPr>
            </a:pPr>
            <a:r>
              <a:t>Scaling Bottleneck and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1A1E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Bottleneck: p95 latency for video transcription and multi-source evidence retrieval.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Mitigation: async job queue, incremental status updates, and retrieval/result caching.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Operational plan: per-agent latency and token telemetry with alert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4FF"/>
                </a:solidFill>
              </a:defRPr>
            </a:pPr>
            <a:r>
              <a:t>Results and Demo Narrative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1A1E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Input a viral healthcare claim (text or URL).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Observe claim decomposition and evidence retrieval across trusted sources.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Return claim-level verdicts with rationale and confidence.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Show trend clustering of recurring misinformation narratives.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F4FF"/>
                </a:solidFill>
              </a:defRPr>
            </a:pPr>
            <a:r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07040" cy="4846320"/>
          </a:xfrm>
          <a:prstGeom prst="roundRect">
            <a:avLst/>
          </a:prstGeom>
          <a:solidFill>
            <a:srgbClr val="1A1E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Add CI/CD with lint, tests, and security scans.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Introduce evaluation harness with ground-truth claim set.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Deploy async inference workers and durable task queue.</a:t>
            </a:r>
          </a:p>
          <a:p>
            <a:pPr>
              <a:spcAft>
                <a:spcPts val="1200"/>
              </a:spcAft>
              <a:defRPr sz="2200">
                <a:solidFill>
                  <a:srgbClr val="F0F4FF"/>
                </a:solidFill>
              </a:defRPr>
            </a:pPr>
            <a:r>
              <a:t>? Expand provenance UI for source-to-claim traceability.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